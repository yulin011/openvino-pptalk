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2.xml" Type="http://schemas.openxmlformats.org/officeDocument/2006/relationships/notesSlide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3.xml" Type="http://schemas.openxmlformats.org/officeDocument/2006/relationships/notesSlide"/><Relationship Id="rId2" Target="../media/image2.jpeg" Type="http://schemas.openxmlformats.org/officeDocument/2006/relationships/image"/><Relationship Id="rId3" Target="../media/image10.jpe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14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24.jpeg" Type="http://schemas.openxmlformats.org/officeDocument/2006/relationships/image"/><Relationship Id="rId4" Target="../media/image25.jpeg" Type="http://schemas.openxmlformats.org/officeDocument/2006/relationships/image"/><Relationship Id="rId5" Target="../media/image26.jpe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svg" Type="http://schemas.openxmlformats.org/officeDocument/2006/relationships/image"/><Relationship Id="rId12" Target="../notesSlides/notesSlide6.xml" Type="http://schemas.openxmlformats.org/officeDocument/2006/relationships/notesSlide"/><Relationship Id="rId2" Target="../media/image2.jpeg" Type="http://schemas.openxmlformats.org/officeDocument/2006/relationships/image"/><Relationship Id="rId3" Target="../media/image35.jpe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9.svg" Type="http://schemas.openxmlformats.org/officeDocument/2006/relationships/image"/><Relationship Id="rId11" Target="../media/image50.png" Type="http://schemas.openxmlformats.org/officeDocument/2006/relationships/image"/><Relationship Id="rId12" Target="../media/image51.svg" Type="http://schemas.openxmlformats.org/officeDocument/2006/relationships/image"/><Relationship Id="rId13" Target="../notesSlides/notesSlide7.xml" Type="http://schemas.openxmlformats.org/officeDocument/2006/relationships/notesSlide"/><Relationship Id="rId2" Target="../media/image2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7.svg" Type="http://schemas.openxmlformats.org/officeDocument/2006/relationships/image"/><Relationship Id="rId11" Target="../media/image58.png" Type="http://schemas.openxmlformats.org/officeDocument/2006/relationships/image"/><Relationship Id="rId12" Target="../notesSlides/notesSlide8.xml" Type="http://schemas.openxmlformats.org/officeDocument/2006/relationships/notesSlide"/><Relationship Id="rId2" Target="../media/image2.jpe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54.png" Type="http://schemas.openxmlformats.org/officeDocument/2006/relationships/image"/><Relationship Id="rId8" Target="../media/image55.sv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52.png" Type="http://schemas.openxmlformats.org/officeDocument/2006/relationships/image"/><Relationship Id="rId6" Target="../media/image53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1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13" Target="../media/image62.png" Type="http://schemas.openxmlformats.org/officeDocument/2006/relationships/image"/><Relationship Id="rId14" Target="../media/image63.svg" Type="http://schemas.openxmlformats.org/officeDocument/2006/relationships/image"/><Relationship Id="rId15" Target="../notesSlides/notesSlide10.xml" Type="http://schemas.openxmlformats.org/officeDocument/2006/relationships/notesSlide"/><Relationship Id="rId16" Target="../media/image64.png" Type="http://schemas.openxmlformats.org/officeDocument/2006/relationships/image"/><Relationship Id="rId2" Target="../media/image59.jpeg" Type="http://schemas.openxmlformats.org/officeDocument/2006/relationships/image"/><Relationship Id="rId3" Target="../media/image56.png" Type="http://schemas.openxmlformats.org/officeDocument/2006/relationships/image"/><Relationship Id="rId4" Target="../media/image57.sv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1905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OpenVINO™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048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释放边缘AI的无限潜能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334000" y="4064000"/>
            <a:ext cx="1524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4572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 spc="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高性能AI推理部署工具套件全面解析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5588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[您的姓名] | 2026年4月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 OpenVINO™？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4826000" cy="4572000"/>
          </a:xfrm>
          <a:prstGeom prst="roundRect">
            <a:avLst>
              <a:gd name="adj" fmla="val 4444"/>
            </a:avLst>
          </a:prstGeom>
          <a:solidFill>
            <a:srgbClr val="FFFFFF">
              <a:alpha val="98000"/>
            </a:srgbClr>
          </a:solidFill>
          <a:ln w="25400" cmpd="sng" cap="flat">
            <a:noFill/>
            <a:prstDash val="solid"/>
            <a:round/>
          </a:ln>
          <a:effectLst>
            <a:outerShdw dir="5400000" dist="76200" blurRad="317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20117" r="20117" t="0" b="0"/>
          <a:stretch>
            <a:fillRect/>
          </a:stretch>
        </p:blipFill>
        <p:spPr>
          <a:xfrm rot="0" flipH="false" flipV="false">
            <a:off x="1016000" y="1778000"/>
            <a:ext cx="4318000" cy="4064000"/>
          </a:xfrm>
          <a:prstGeom prst="roundRect">
            <a:avLst>
              <a:gd name="adj" fmla="val 375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5842000" y="1524000"/>
            <a:ext cx="5588000" cy="1397000"/>
          </a:xfrm>
          <a:prstGeom prst="roundRect">
            <a:avLst>
              <a:gd name="adj" fmla="val 14545"/>
            </a:avLst>
          </a:prstGeom>
          <a:solidFill>
            <a:srgbClr val="FFFFFF">
              <a:alpha val="98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32500" y="1714500"/>
            <a:ext cx="812800" cy="8128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235700" y="19177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985000" y="1651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核心定义：AI 模型优化部署工具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985000" y="20955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英特尔推出的</a:t>
            </a:r>
            <a:r>
              <a:rPr lang="en-US" b="true" i="false" strike="noStrike" u="none" sz="1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免费、开源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套件。专注于</a:t>
            </a:r>
            <a:r>
              <a:rPr lang="en-US" b="true" i="false" strike="noStrike" u="none" sz="1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优化和部署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预训练模型，实现多平台高效推理。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842000" y="3175000"/>
            <a:ext cx="5588000" cy="1397000"/>
          </a:xfrm>
          <a:prstGeom prst="roundRect">
            <a:avLst>
              <a:gd name="adj" fmla="val 14545"/>
            </a:avLst>
          </a:prstGeom>
          <a:solidFill>
            <a:srgbClr val="FFFFFF">
              <a:alpha val="98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32500" y="3365500"/>
            <a:ext cx="812800" cy="8128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235700" y="35687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985000" y="3302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打破边缘 AI 的“不可能三角”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985000" y="37465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针对边缘设备算力受限问题，通过深度优化实现</a:t>
            </a:r>
            <a:r>
              <a:rPr lang="en-US" b="true" i="false" strike="noStrike" u="none" sz="1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高性能、低延迟、高吞吐量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的推理效果。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842000" y="4826000"/>
            <a:ext cx="5588000" cy="1397000"/>
          </a:xfrm>
          <a:prstGeom prst="roundRect">
            <a:avLst>
              <a:gd name="adj" fmla="val 14545"/>
            </a:avLst>
          </a:prstGeom>
          <a:solidFill>
            <a:srgbClr val="FFFFFF">
              <a:alpha val="98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032500" y="5016500"/>
            <a:ext cx="812800" cy="8128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235700" y="52197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985000" y="4953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核心理念：一次写入，处处部署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985000" y="53975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开发者仅需编写一次代码，即可将应用无缝部署到边缘、本地服务器及云端等各类英特尔硬件。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为什么选择 OpenVINO™？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3810000" cy="4826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18021" r="18021" t="0" b="0"/>
          <a:stretch>
            <a:fillRect/>
          </a:stretch>
        </p:blipFill>
        <p:spPr>
          <a:xfrm rot="0" flipH="false" flipV="false">
            <a:off x="1016000" y="1905000"/>
            <a:ext cx="3302000" cy="2794000"/>
          </a:xfrm>
          <a:prstGeom prst="roundRect">
            <a:avLst>
              <a:gd name="adj" fmla="val 5454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4953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英特尔® 开放视觉推理与神经网络优化库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5461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OpenVINO™ Toolkit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826000" y="1524000"/>
            <a:ext cx="6350000" cy="1397000"/>
          </a:xfrm>
          <a:prstGeom prst="roundRect">
            <a:avLst>
              <a:gd name="adj" fmla="val 1454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0" y="1778000"/>
            <a:ext cx="889000" cy="889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270500" y="19685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223000" y="1651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极致的性能优化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2095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通过硬件感知优化，推理延迟降低</a:t>
            </a:r>
            <a:r>
              <a:rPr lang="en-US" b="true" i="false" strike="noStrike" u="none" sz="12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50%-80%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；支持INT8/INT4量化，在精度损失极小的情况下大幅提升吞吐量。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826000" y="3175000"/>
            <a:ext cx="6350000" cy="1397000"/>
          </a:xfrm>
          <a:prstGeom prst="roundRect">
            <a:avLst>
              <a:gd name="adj" fmla="val 1454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080000" y="3429000"/>
            <a:ext cx="889000" cy="889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270500" y="3619500"/>
            <a:ext cx="508000" cy="508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223000" y="3302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广泛的跨平台兼容性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3746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全面支持英特尔 CPU、GPU、NPU、FPGA 等全栈硬件；完美适配 Windows、Linux、macOS 等主流操作系统。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826000" y="4826000"/>
            <a:ext cx="6350000" cy="1397000"/>
          </a:xfrm>
          <a:prstGeom prst="roundRect">
            <a:avLst>
              <a:gd name="adj" fmla="val 1454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80000" y="5080000"/>
            <a:ext cx="889000" cy="889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270500" y="5270500"/>
            <a:ext cx="508000" cy="508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223000" y="4953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强大的生态系统与易用性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5397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兼容 PyTorch、TensorFlow 等主流框架；深度集成 Hugging Face，提供模型下载与性能测试等全套工具链。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OpenVINO™ 的核心组件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5334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76200" cy="1651000"/>
          </a:xfrm>
          <a:prstGeom prst="roundRect">
            <a:avLst>
              <a:gd name="adj" fmla="val 20000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41400" y="1651000"/>
            <a:ext cx="609600" cy="609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17526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841500" y="1587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模型优化器 (Model Optimizer)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841500" y="2032000"/>
            <a:ext cx="393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核心功能：模型格式转换与深度性能优化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841500" y="2413000"/>
            <a:ext cx="393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 TF/PyTorch 转为 IR 格式，通过层融合、INT8/4 量化、剪枝与常量折叠等技术大幅精简模型体积与计算量。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238500"/>
            <a:ext cx="5334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238500"/>
            <a:ext cx="76200" cy="1651000"/>
          </a:xfrm>
          <a:prstGeom prst="roundRect">
            <a:avLst>
              <a:gd name="adj" fmla="val 20000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41400" y="3492500"/>
            <a:ext cx="609600" cy="609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143000" y="35941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841500" y="34290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OpenVINO™ 运行时 (Runtime)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841500" y="3873500"/>
            <a:ext cx="393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核心特性：跨硬件异构执行与高性能推理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841500" y="4254500"/>
            <a:ext cx="393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加载 IR 模型并在目标硬件运行。支持异步推理提升吞吐、异构执行分配最优算力、动态形状适应输入变化。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080000"/>
            <a:ext cx="5334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080000"/>
            <a:ext cx="76200" cy="1270000"/>
          </a:xfrm>
          <a:prstGeom prst="roundRect">
            <a:avLst>
              <a:gd name="adj" fmla="val 20000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41400" y="5283200"/>
            <a:ext cx="609600" cy="609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143000" y="53848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841500" y="5207000"/>
            <a:ext cx="393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全流程辅助工具套件 (Toolkit)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841500" y="5588000"/>
            <a:ext cx="393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包含 Benchmark Tool (性能评估)、Model Downloader (模型下载)、POT (后训练优化) 等，覆盖开发部署全周期。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23000" y="1397000"/>
            <a:ext cx="4953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54000" algn="tl" rotWithShape="false">
              <a:srgbClr val="000000">
                <a:alpha val="12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9"/>
          <a:srcRect l="20579" r="20579" t="0" b="0"/>
          <a:stretch>
            <a:fillRect/>
          </a:stretch>
        </p:blipFill>
        <p:spPr>
          <a:xfrm rot="0" flipH="false" flipV="false">
            <a:off x="6477000" y="1651000"/>
            <a:ext cx="4445000" cy="3048000"/>
          </a:xfrm>
          <a:prstGeom prst="roundRect">
            <a:avLst>
              <a:gd name="adj" fmla="val 3333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25400" blurRad="1016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26" id="26"/>
          <p:cNvSpPr/>
          <p:nvPr/>
        </p:nvSpPr>
        <p:spPr>
          <a:xfrm rot="0" flipH="false" flipV="false">
            <a:off x="6477000" y="49530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赋能边缘 AI 部署生态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77000" y="5461000"/>
            <a:ext cx="444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统一的 API 接口 · 极致的推理性能 · 广泛的硬件支持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强大的硬件与模型支持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78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全栈硬件生态覆盖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13000"/>
            <a:ext cx="1524000" cy="2032000"/>
          </a:xfrm>
          <a:prstGeom prst="roundRect">
            <a:avLst>
              <a:gd name="adj" fmla="val 1000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143000" y="2540000"/>
            <a:ext cx="1270000" cy="1270000"/>
          </a:xfrm>
          <a:prstGeom prst="roundRect">
            <a:avLst>
              <a:gd name="adj" fmla="val 8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1016000" y="39370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CPU 处理器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Xeon® / Core™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667000" y="2413000"/>
            <a:ext cx="1524000" cy="2032000"/>
          </a:xfrm>
          <a:prstGeom prst="roundRect">
            <a:avLst>
              <a:gd name="adj" fmla="val 1000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rcRect l="21875" r="21875" t="0" b="0"/>
          <a:stretch>
            <a:fillRect/>
          </a:stretch>
        </p:blipFill>
        <p:spPr>
          <a:xfrm rot="0" flipH="false" flipV="false">
            <a:off x="2794000" y="2540000"/>
            <a:ext cx="1270000" cy="1270000"/>
          </a:xfrm>
          <a:prstGeom prst="roundRect">
            <a:avLst>
              <a:gd name="adj" fmla="val 8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2667000" y="39370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GPU 显卡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集成 / Arc™独显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18000" y="2413000"/>
            <a:ext cx="1524000" cy="2032000"/>
          </a:xfrm>
          <a:prstGeom prst="roundRect">
            <a:avLst>
              <a:gd name="adj" fmla="val 1000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rcRect l="23750" r="23749" t="0" b="0"/>
          <a:stretch>
            <a:fillRect/>
          </a:stretch>
        </p:blipFill>
        <p:spPr>
          <a:xfrm rot="0" flipH="false" flipV="false">
            <a:off x="4445000" y="2540000"/>
            <a:ext cx="1270000" cy="1270000"/>
          </a:xfrm>
          <a:prstGeom prst="roundRect">
            <a:avLst>
              <a:gd name="adj" fmla="val 8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4318000" y="39370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NPU 神经单元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Core™ Ultra 内置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826000"/>
            <a:ext cx="2349500" cy="1143000"/>
          </a:xfrm>
          <a:prstGeom prst="roundRect">
            <a:avLst>
              <a:gd name="adj" fmla="val 13333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143000" y="4953000"/>
            <a:ext cx="2095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VPU 视觉处理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Movidius™ Myriad™ 系列，专为边缘计算优化。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492500" y="4826000"/>
            <a:ext cx="2349500" cy="1143000"/>
          </a:xfrm>
          <a:prstGeom prst="roundRect">
            <a:avLst>
              <a:gd name="adj" fmla="val 13333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619500" y="4953000"/>
            <a:ext cx="2095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FPGA 可编程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OpenCL 编程，提供高灵活性的异构计算能力。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000" y="1524000"/>
            <a:ext cx="5207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1778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多框架与模型深度集成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77000" y="2413000"/>
            <a:ext cx="2349500" cy="1587500"/>
          </a:xfrm>
          <a:prstGeom prst="roundRect">
            <a:avLst>
              <a:gd name="adj" fmla="val 9600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667500" y="2603500"/>
            <a:ext cx="355600" cy="3556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7112000" y="2603500"/>
            <a:ext cx="1587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主流框架兼容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667500" y="3111500"/>
            <a:ext cx="203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完美适配 TensorFlow, PyTorch, ONNX, PaddlePaddle 等主流框架。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953500" y="2413000"/>
            <a:ext cx="2349500" cy="1587500"/>
          </a:xfrm>
          <a:prstGeom prst="roundRect">
            <a:avLst>
              <a:gd name="adj" fmla="val 9600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144000" y="2603500"/>
            <a:ext cx="355600" cy="3556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9588500" y="2603500"/>
            <a:ext cx="1587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Transformer 集成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144000" y="3111500"/>
            <a:ext cx="203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无缝对接 Hugging Face，支持 BERT, GPT, Whisper 等热门模型。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477000" y="4191000"/>
            <a:ext cx="2349500" cy="1587500"/>
          </a:xfrm>
          <a:prstGeom prst="roundRect">
            <a:avLst>
              <a:gd name="adj" fmla="val 9600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67500" y="4381500"/>
            <a:ext cx="355600" cy="3556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7112000" y="4381500"/>
            <a:ext cx="1587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生成式 AI 支持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667500" y="4889500"/>
            <a:ext cx="203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全面支持 FLUX.1 文生图及 Llama, Qwen 等大语言模型部署。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953500" y="4191000"/>
            <a:ext cx="2349500" cy="1587500"/>
          </a:xfrm>
          <a:prstGeom prst="roundRect">
            <a:avLst>
              <a:gd name="adj" fmla="val 9600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9144000" y="4381500"/>
            <a:ext cx="355600" cy="355600"/>
          </a:xfrm>
          <a:prstGeom prst="rect">
            <a:avLst/>
          </a:prstGeom>
        </p:spPr>
      </p:pic>
      <p:sp>
        <p:nvSpPr>
          <p:cNvPr name="AutoShape 35" id="35"/>
          <p:cNvSpPr/>
          <p:nvPr/>
        </p:nvSpPr>
        <p:spPr>
          <a:xfrm rot="0" flipH="false" flipV="false">
            <a:off x="9588500" y="4381500"/>
            <a:ext cx="1587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经典视觉模型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9144000" y="4889500"/>
            <a:ext cx="203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深度优化 YOLO, ResNet, SSD, Mask R-CNN 等经典 CV 模型。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典型应用场景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3556000" cy="4826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905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16000" y="1905000"/>
            <a:ext cx="3048000" cy="3048000"/>
          </a:xfrm>
          <a:prstGeom prst="roundRect">
            <a:avLst>
              <a:gd name="adj" fmla="val 5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5207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边缘计算硬件赋能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低延迟 · 高性能 · 本地化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572000" y="1524000"/>
            <a:ext cx="3429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72000" y="1524000"/>
            <a:ext cx="76200" cy="2286000"/>
          </a:xfrm>
          <a:prstGeom prst="roundRect">
            <a:avLst>
              <a:gd name="adj" fmla="val 20000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826000" y="1714500"/>
            <a:ext cx="609600" cy="6096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953000" y="18415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588000" y="1752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自动驾驶与ADAS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826000" y="2413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应用：</a:t>
            </a: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实时环境感知、目标检测、语义分割、交通标志识别。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826000" y="3048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</a:t>
            </a: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毫秒级响应低延迟，有效保障车辆行驶安全。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55000" y="1524000"/>
            <a:ext cx="3429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0" y="1524000"/>
            <a:ext cx="76200" cy="2286000"/>
          </a:xfrm>
          <a:prstGeom prst="roundRect">
            <a:avLst>
              <a:gd name="adj" fmla="val 20000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509000" y="1714500"/>
            <a:ext cx="609600" cy="6096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636000" y="1841500"/>
            <a:ext cx="355600" cy="355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9271000" y="1752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工业检测与智造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509000" y="2413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应用：</a:t>
            </a: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产品缺陷检测、智能仪表读数、机器人视觉引导作业。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509000" y="3048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</a:t>
            </a: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实现产线高精度、高效率的自动化质检与控制。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572000" y="4064000"/>
            <a:ext cx="3429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572000" y="4064000"/>
            <a:ext cx="76200" cy="2286000"/>
          </a:xfrm>
          <a:prstGeom prst="roundRect">
            <a:avLst>
              <a:gd name="adj" fmla="val 20000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826000" y="4254500"/>
            <a:ext cx="609600" cy="6096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953000" y="4381500"/>
            <a:ext cx="355600" cy="3556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5588000" y="4292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GenAI与大模型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826000" y="4953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应用：</a:t>
            </a: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边缘部署轻量LLM，赋能智能客服、语音助手与翻译。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826000" y="5588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</a:t>
            </a: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降低云端依赖，实现数据本地化处理，保护用户隐私。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255000" y="4064000"/>
            <a:ext cx="3429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255000" y="4064000"/>
            <a:ext cx="76200" cy="2286000"/>
          </a:xfrm>
          <a:prstGeom prst="roundRect">
            <a:avLst>
              <a:gd name="adj" fmla="val 20000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509000" y="4254500"/>
            <a:ext cx="609600" cy="6096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636000" y="4381500"/>
            <a:ext cx="355600" cy="3556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9271000" y="4292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智慧零售与安防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509000" y="4953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应用：</a:t>
            </a: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顾客行为分析、客流统计、异常事件检测与人脸识别。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509000" y="5588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</a:t>
            </a: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显著提升商业运营效率，有效增强公共区域安全防护。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高效的开发工作流程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2032000" cy="4318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76200" blurRad="203200" algn="tl" rotWithShape="false">
              <a:srgbClr val="1F2937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422400" y="2921000"/>
            <a:ext cx="711200" cy="711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889000" y="3810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模型训练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4445000"/>
            <a:ext cx="165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使用PyTorch或TensorFlow等框架训练模型，或直接选用成熟的预训练模型。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984500" y="1651000"/>
            <a:ext cx="2032000" cy="4318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76200" blurRad="203200" algn="tl" rotWithShape="false">
              <a:srgbClr val="1F2937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984500" y="20320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644900" y="2921000"/>
            <a:ext cx="711200" cy="7112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3111500" y="3810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转换与优化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175000" y="4445000"/>
            <a:ext cx="165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利用模型优化器(MO)将模型转为IR格式，并应用量化、剪枝等策略提升性能。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207000" y="1651000"/>
            <a:ext cx="2032000" cy="4318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76200" blurRad="203200" algn="tl" rotWithShape="false">
              <a:srgbClr val="1F2937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207000" y="20320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867400" y="2921000"/>
            <a:ext cx="711200" cy="7112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334000" y="3810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编译与部署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397500" y="4445000"/>
            <a:ext cx="165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通过Runtime Core读取IR模型，自动编译并部署到CPU、GPU等指定硬件上。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429500" y="1651000"/>
            <a:ext cx="2032000" cy="4318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76200" blurRad="203200" algn="tl" rotWithShape="false">
              <a:srgbClr val="1F2937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429500" y="20320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089900" y="2921000"/>
            <a:ext cx="711200" cy="7112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556500" y="3810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执行推理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0" y="4445000"/>
            <a:ext cx="165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创建推理请求并填充输入数据，调用infer()或异步接口高效执行AI推理计算。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652000" y="1651000"/>
            <a:ext cx="2032000" cy="4318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76200" blurRad="203200" algn="tl" rotWithShape="false">
              <a:srgbClr val="1F2937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652000" y="20320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312400" y="2921000"/>
            <a:ext cx="711200" cy="7112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9779000" y="3810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结果处理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842500" y="4445000"/>
            <a:ext cx="165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解析并处理推理输出结果，将其集成到最终的业务逻辑中，完成应用闭环。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卓越的性能表现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266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18034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CPU 推理加速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4130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速度翻倍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0480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AMX指令集加持，FP16推理性能飞跃式提升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683000" y="1524000"/>
            <a:ext cx="266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937000" y="1778000"/>
            <a:ext cx="457200" cy="457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572000" y="18034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LLM 吞吐优化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937000" y="24130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+ 80%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937000" y="30480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7B模型结合LoRA微调与连续批处理技术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3683000"/>
            <a:ext cx="266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937000"/>
            <a:ext cx="457200" cy="4572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651000" y="39624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文生图性能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45720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+ 120%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52070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SD3/FLUX.1等主流模型推理效率显著提升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683000" y="3683000"/>
            <a:ext cx="266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3937000" y="3937000"/>
            <a:ext cx="457200" cy="4572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4572000" y="39624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延迟大幅降低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937000" y="45720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50% - 80%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937000" y="52070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对比原生方案，推理响应速度更快更稳定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604000" y="1524000"/>
            <a:ext cx="4826000" cy="4064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54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858000" y="1778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典型模型吞吐量对比 (FPS)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 flipH="false" flipV="false">
            <a:off x="6858000" y="2413000"/>
            <a:ext cx="4318000" cy="2921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最新进展与未来趋势 (2026年视角)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812800" cy="8128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68400" y="21844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2032000" y="21590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生成式AI</a:t>
            </a: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全面拥抱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175000"/>
            <a:ext cx="2794000" cy="1905000"/>
          </a:xfrm>
          <a:prstGeom prst="roundRect">
            <a:avLst>
              <a:gd name="adj" fmla="val 5333"/>
            </a:avLst>
          </a:prstGeom>
          <a:solidFill>
            <a:srgbClr val="F3F4F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33655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OpenVINO™ 2025/26版本对LLM和扩散模型提供深度支持。重点优化了KV Cache压缩、连续批处理及动态加载适配器等关键技术，释放极致性能。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651000"/>
            <a:ext cx="3302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2032000"/>
            <a:ext cx="812800" cy="8128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851400" y="21844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715000" y="21590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NPU跃升</a:t>
            </a: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性能核心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99000" y="3175000"/>
            <a:ext cx="2794000" cy="1905000"/>
          </a:xfrm>
          <a:prstGeom prst="roundRect">
            <a:avLst>
              <a:gd name="adj" fmla="val 5333"/>
            </a:avLst>
          </a:prstGeom>
          <a:solidFill>
            <a:srgbClr val="F3F4F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826000" y="33655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依托酷睿™ Ultra处理器的普及，NPU成为边缘AI的关键算力来源。OpenVINO提供原生支持，通过torch.compile等接口即可轻松调用NPU算力加速推理。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28000" y="1651000"/>
            <a:ext cx="3302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82000" y="2032000"/>
            <a:ext cx="812800" cy="8128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534400" y="2184400"/>
            <a:ext cx="508000" cy="508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9398000" y="21590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AI生态</a:t>
            </a: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持续开放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382000" y="3175000"/>
            <a:ext cx="2794000" cy="1905000"/>
          </a:xfrm>
          <a:prstGeom prst="roundRect">
            <a:avLst>
              <a:gd name="adj" fmla="val 5333"/>
            </a:avLst>
          </a:prstGeom>
          <a:solidFill>
            <a:srgbClr val="F3F4F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509000" y="33655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持续扩展对PyTorch 2.x新特性的支持，并与Hugging Face社区深度集成，极大简化了前沿模型的获取、微调与边缘端部署的全流程。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381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总结与资源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190500" algn="tl" rotWithShape="false">
              <a:srgbClr val="000000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6510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778000" y="16510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性能驱动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413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显著加速AI推理计算，大幅降低响应延迟，有效提升系统吞吐量。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397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190500" algn="tl" rotWithShape="false">
              <a:srgbClr val="000000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651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461000" y="16510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平台灵活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2413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一次开发，即可无缝部署在从边缘终端到云端服务器的各类英特尔®硬件上。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397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190500" algn="tl" rotWithShape="false">
              <a:srgbClr val="000000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6510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9144000" y="16510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开发高效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82000" y="2413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提供全栈式强大工具链与广泛框架支持，显著降低门槛，加速AI应用落地。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683000"/>
            <a:ext cx="330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190500" algn="tl" rotWithShape="false">
              <a:srgbClr val="000000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000500"/>
            <a:ext cx="609600" cy="609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778000" y="3937000"/>
            <a:ext cx="2159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官方文档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778000" y="43815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docs.openvino.ai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445000" y="3683000"/>
            <a:ext cx="330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190500" algn="tl" rotWithShape="false">
              <a:srgbClr val="000000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699000" y="4000500"/>
            <a:ext cx="609600" cy="609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5461000" y="3937000"/>
            <a:ext cx="2159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GitHub 仓库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461000" y="43815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github.com/openvinotoolkit/openvino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128000" y="3683000"/>
            <a:ext cx="330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190500" algn="tl" rotWithShape="false">
              <a:srgbClr val="000000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382000" y="4000500"/>
            <a:ext cx="609600" cy="6096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9144000" y="3937000"/>
            <a:ext cx="2159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Open Model Zoo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144000" y="43815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丰富的预训练模型库资源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0" y="5461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0" y="6350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 spc="2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LISTENING</a:t>
            </a:r>
            <a:endParaRPr lang="en-US" sz="1100"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